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70" r:id="rId10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255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F172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F172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F172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F172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0480" y="1229614"/>
            <a:ext cx="5851525" cy="506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F172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kesh-jayanna-215a3728b/" TargetMode="External"/><Relationship Id="rId2" Type="http://schemas.openxmlformats.org/officeDocument/2006/relationships/hyperlink" Target="mailto:rakeshj.woks@gmail.com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rakeshjayanna/Security-Monitoring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472" y="664819"/>
            <a:ext cx="5164328" cy="156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5"/>
              </a:spcBef>
            </a:pPr>
            <a:r>
              <a:rPr sz="4700" spc="-10" dirty="0" err="1"/>
              <a:t>Securit</a:t>
            </a:r>
            <a:r>
              <a:rPr lang="en-IN" sz="4700" spc="-10" dirty="0"/>
              <a:t>y </a:t>
            </a:r>
            <a:r>
              <a:rPr sz="4700" spc="-10" dirty="0"/>
              <a:t>Monitoring System</a:t>
            </a:r>
            <a:r>
              <a:rPr lang="en-IN" sz="4700" spc="-10" dirty="0"/>
              <a:t> with AWS</a:t>
            </a:r>
            <a:endParaRPr sz="470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1152" y="3594100"/>
            <a:ext cx="6327775" cy="5439410"/>
            <a:chOff x="623569" y="3897248"/>
            <a:chExt cx="6327775" cy="54394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569" y="3897248"/>
              <a:ext cx="6327775" cy="54394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039" y="5940170"/>
              <a:ext cx="5264785" cy="16276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Introducing</a:t>
            </a:r>
            <a:r>
              <a:rPr spc="-130" dirty="0"/>
              <a:t> </a:t>
            </a:r>
            <a:r>
              <a:rPr lang="en-IN" spc="-35" dirty="0"/>
              <a:t>the </a:t>
            </a:r>
            <a:r>
              <a:rPr spc="-10" dirty="0"/>
              <a:t>Project!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480" y="1981859"/>
            <a:ext cx="601916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378460" indent="-6350">
              <a:lnSpc>
                <a:spcPct val="113100"/>
              </a:lnSpc>
              <a:spcBef>
                <a:spcPts val="100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3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will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demonstrate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how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using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SNS!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10" dirty="0">
                <a:solidFill>
                  <a:srgbClr val="0F1728"/>
                </a:solidFill>
                <a:latin typeface="Calibri"/>
                <a:cs typeface="Calibri"/>
              </a:rPr>
              <a:t>I’m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doing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learn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how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security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ct val="113100"/>
              </a:lnSpc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services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work,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plus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have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working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actually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emails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too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480" y="3400903"/>
            <a:ext cx="6185535" cy="136715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950" b="1" spc="-20" dirty="0">
                <a:solidFill>
                  <a:srgbClr val="0F1728"/>
                </a:solidFill>
                <a:latin typeface="Calibri"/>
                <a:cs typeface="Calibri"/>
              </a:rPr>
              <a:t>Tools</a:t>
            </a:r>
            <a:r>
              <a:rPr sz="1950" b="1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950" b="1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0F1728"/>
                </a:solidFill>
                <a:latin typeface="Calibri"/>
                <a:cs typeface="Calibri"/>
              </a:rPr>
              <a:t>concepts</a:t>
            </a:r>
            <a:endParaRPr sz="1950" dirty="0">
              <a:latin typeface="Calibri"/>
              <a:cs typeface="Calibri"/>
            </a:endParaRPr>
          </a:p>
          <a:p>
            <a:pPr marL="18415" marR="5080" indent="-6350">
              <a:lnSpc>
                <a:spcPct val="113100"/>
              </a:lnSpc>
              <a:spcBef>
                <a:spcPts val="340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Services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4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were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also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Manager,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IAM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(roles)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S3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buckets.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Key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concepts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learnt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include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storing,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vs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notifications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different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kinds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endpoints,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how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create</a:t>
            </a:r>
            <a:r>
              <a:rPr sz="1300" spc="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alarm.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480" y="5265007"/>
            <a:ext cx="6187440" cy="1483098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950" b="1" dirty="0">
                <a:solidFill>
                  <a:srgbClr val="0F1728"/>
                </a:solidFill>
                <a:latin typeface="Calibri"/>
                <a:cs typeface="Calibri"/>
              </a:rPr>
              <a:t>Project</a:t>
            </a:r>
            <a:r>
              <a:rPr sz="1950" b="1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0F1728"/>
                </a:solidFill>
                <a:latin typeface="Calibri"/>
                <a:cs typeface="Calibri"/>
              </a:rPr>
              <a:t>reflection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took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40" dirty="0">
                <a:solidFill>
                  <a:srgbClr val="0F1728"/>
                </a:solidFill>
                <a:latin typeface="Calibri"/>
                <a:cs typeface="Calibri"/>
              </a:rPr>
              <a:t>me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just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under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40" dirty="0">
                <a:solidFill>
                  <a:srgbClr val="0F1728"/>
                </a:solidFill>
                <a:latin typeface="Calibri"/>
                <a:cs typeface="Calibri"/>
              </a:rPr>
              <a:t>5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hours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most</a:t>
            </a:r>
            <a:r>
              <a:rPr lang="en-IN"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challenging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part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troubleshooting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wasn't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delivering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first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test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it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would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frustruating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error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happening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but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'error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logs'</a:t>
            </a:r>
            <a:r>
              <a:rPr sz="1300" spc="-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error messages.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most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rewarding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compare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notifications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really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open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ed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up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my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mind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around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too.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480" y="7381113"/>
            <a:ext cx="5683885" cy="144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dirty="0">
                <a:solidFill>
                  <a:srgbClr val="0F1728"/>
                </a:solidFill>
                <a:latin typeface="Calibri"/>
                <a:cs typeface="Calibri"/>
              </a:rPr>
              <a:t>Create</a:t>
            </a:r>
            <a:r>
              <a:rPr sz="3150" b="1" spc="-6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3150" b="1" spc="-7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endParaRPr sz="3150" dirty="0">
              <a:latin typeface="Calibri"/>
              <a:cs typeface="Calibri"/>
            </a:endParaRPr>
          </a:p>
          <a:p>
            <a:pPr marL="18415" marR="5080" indent="-6350">
              <a:lnSpc>
                <a:spcPct val="113100"/>
              </a:lnSpc>
              <a:spcBef>
                <a:spcPts val="2130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Manager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AWS'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security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service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storing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i.e.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database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credentials,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account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IDs,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API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keys...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anything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sensitive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information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would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cause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damage/trouble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got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leaked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shouldn't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lying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around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code.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3200" y="1209160"/>
            <a:ext cx="6074995" cy="63927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96925">
              <a:lnSpc>
                <a:spcPct val="100000"/>
              </a:lnSpc>
              <a:spcBef>
                <a:spcPts val="305"/>
              </a:spcBef>
            </a:pPr>
            <a:r>
              <a:rPr sz="1300" spc="-75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1300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3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created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called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TopSecretInfo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 err="1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25" dirty="0" err="1">
                <a:solidFill>
                  <a:srgbClr val="0F1728"/>
                </a:solidFill>
                <a:latin typeface="Calibri"/>
                <a:cs typeface="Calibri"/>
              </a:rPr>
              <a:t>Manager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.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string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contains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take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from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0" dirty="0">
                <a:solidFill>
                  <a:srgbClr val="0F1728"/>
                </a:solidFill>
                <a:latin typeface="Calibri"/>
                <a:cs typeface="Calibri"/>
              </a:rPr>
              <a:t>me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...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mentioned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need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3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coffees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day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function.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480" y="5441060"/>
            <a:ext cx="6148705" cy="1673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3150" b="1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3150" b="1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endParaRPr sz="3150" dirty="0">
              <a:latin typeface="Calibri"/>
              <a:cs typeface="Calibri"/>
            </a:endParaRPr>
          </a:p>
          <a:p>
            <a:pPr marL="18415" marR="476884" indent="-6350">
              <a:lnSpc>
                <a:spcPct val="113799"/>
              </a:lnSpc>
              <a:spcBef>
                <a:spcPts val="2115"/>
              </a:spcBef>
            </a:pP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service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it's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used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acitivities</a:t>
            </a:r>
            <a:r>
              <a:rPr sz="1300" spc="-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AWS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account.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These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very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helpful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security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(i.e.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detecting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suspicious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activity),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ct val="113100"/>
              </a:lnSpc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compliance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(i.e.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proving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you're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following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rules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something),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troubleshooting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(i.e.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identifying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what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happened/changed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if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something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breaks).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0480" y="7623962"/>
            <a:ext cx="6198870" cy="11480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include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types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like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management,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data,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insights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network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activity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events.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9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project,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3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trail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Management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secert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ts val="1780"/>
              </a:lnSpc>
              <a:spcBef>
                <a:spcPts val="80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falls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category.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data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(which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captures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high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volume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actions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performed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resources)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management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free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lets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security</a:t>
            </a:r>
            <a:r>
              <a:rPr sz="1300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operations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like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free)!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22655" y="2037841"/>
            <a:ext cx="6189345" cy="3421379"/>
            <a:chOff x="922655" y="2037841"/>
            <a:chExt cx="6189345" cy="342137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655" y="2037841"/>
              <a:ext cx="6189345" cy="34213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046" y="2741675"/>
              <a:ext cx="5269737" cy="2020696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5872" y="1184543"/>
            <a:ext cx="6227445" cy="15201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305"/>
              </a:spcBef>
            </a:pPr>
            <a:r>
              <a:rPr lang="en-GB" sz="1550" dirty="0">
                <a:solidFill>
                  <a:srgbClr val="0F1728"/>
                </a:solidFill>
                <a:latin typeface="Calibri"/>
                <a:cs typeface="Calibri"/>
              </a:rPr>
              <a:t>	</a:t>
            </a:r>
            <a:endParaRPr lang="en-IN" sz="15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950" b="1" dirty="0">
                <a:solidFill>
                  <a:srgbClr val="0F1728"/>
                </a:solidFill>
                <a:latin typeface="Calibri"/>
                <a:cs typeface="Calibri"/>
              </a:rPr>
              <a:t>Read</a:t>
            </a:r>
            <a:r>
              <a:rPr sz="1950" b="1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dirty="0">
                <a:solidFill>
                  <a:srgbClr val="0F1728"/>
                </a:solidFill>
                <a:latin typeface="Calibri"/>
                <a:cs typeface="Calibri"/>
              </a:rPr>
              <a:t>vs</a:t>
            </a:r>
            <a:r>
              <a:rPr sz="1950" b="1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dirty="0">
                <a:solidFill>
                  <a:srgbClr val="0F1728"/>
                </a:solidFill>
                <a:latin typeface="Calibri"/>
                <a:cs typeface="Calibri"/>
              </a:rPr>
              <a:t>Write</a:t>
            </a:r>
            <a:r>
              <a:rPr sz="1950" b="1" spc="-6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0F1728"/>
                </a:solidFill>
                <a:latin typeface="Calibri"/>
                <a:cs typeface="Calibri"/>
              </a:rPr>
              <a:t>Activity</a:t>
            </a:r>
            <a:endParaRPr sz="1950" dirty="0">
              <a:latin typeface="Calibri"/>
              <a:cs typeface="Calibri"/>
            </a:endParaRPr>
          </a:p>
          <a:p>
            <a:pPr marL="18415" marR="92710" indent="-6350" algn="just">
              <a:lnSpc>
                <a:spcPct val="113100"/>
              </a:lnSpc>
              <a:spcBef>
                <a:spcPts val="34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Read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API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activity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involves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accessing,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reading,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opening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resource.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Write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API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activity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involves creating,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deleting,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updating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resource.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project,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ticked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both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learn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about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both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types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activities,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but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really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only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need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Write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acitivty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(accessing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endParaRPr sz="1300" dirty="0">
              <a:latin typeface="Calibri"/>
              <a:cs typeface="Calibri"/>
            </a:endParaRPr>
          </a:p>
          <a:p>
            <a:pPr marL="18415" algn="just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considered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Write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activity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importance)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480" y="3025266"/>
            <a:ext cx="6158230" cy="145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Verifying</a:t>
            </a:r>
            <a:r>
              <a:rPr sz="3150" b="1" spc="-1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endParaRPr sz="3150" dirty="0">
              <a:latin typeface="Calibri"/>
              <a:cs typeface="Calibri"/>
            </a:endParaRPr>
          </a:p>
          <a:p>
            <a:pPr marL="18415" marR="5080" indent="-6350">
              <a:lnSpc>
                <a:spcPct val="113100"/>
              </a:lnSpc>
              <a:spcBef>
                <a:spcPts val="2135"/>
              </a:spcBef>
            </a:pP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retrieved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4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ways: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First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through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Manager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console,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could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easily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just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select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"Retrieve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value"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button.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Second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way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using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CLI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i.e.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running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get-secret-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CloudShell.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0480" y="4982997"/>
            <a:ext cx="5969635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133350" indent="-6350">
              <a:lnSpc>
                <a:spcPct val="113799"/>
              </a:lnSpc>
              <a:spcBef>
                <a:spcPts val="100"/>
              </a:spcBef>
            </a:pPr>
            <a:r>
              <a:rPr sz="1300" spc="-75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analyze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i.e.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where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got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secret's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value,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visited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history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CloudTrail.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found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GetSecretValue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ts val="1780"/>
              </a:lnSpc>
              <a:spcBef>
                <a:spcPts val="8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tracked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regardless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did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over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CLI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over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console.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tells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that CloudTrail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can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definitely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open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Manager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key.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22655" y="6255130"/>
            <a:ext cx="6189345" cy="3422015"/>
            <a:chOff x="922655" y="6255130"/>
            <a:chExt cx="6189345" cy="3422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655" y="6255130"/>
              <a:ext cx="6189345" cy="34214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046" y="7075169"/>
              <a:ext cx="5269737" cy="177990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CloudWatch</a:t>
            </a:r>
            <a:r>
              <a:rPr spc="-140" dirty="0"/>
              <a:t> </a:t>
            </a:r>
            <a:r>
              <a:rPr spc="-10" dirty="0"/>
              <a:t>Metrics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480" y="1981859"/>
            <a:ext cx="611822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13100"/>
              </a:lnSpc>
              <a:spcBef>
                <a:spcPts val="10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service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brings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together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other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services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(including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CloudTrail)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help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30" dirty="0">
                <a:solidFill>
                  <a:srgbClr val="0F1728"/>
                </a:solidFill>
                <a:latin typeface="Calibri"/>
                <a:cs typeface="Calibri"/>
              </a:rPr>
              <a:t>us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analyze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create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for.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It's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important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monitoring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create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insights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alerted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based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happen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your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account.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462" y="2981579"/>
            <a:ext cx="6144260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13100"/>
              </a:lnSpc>
              <a:spcBef>
                <a:spcPts val="100"/>
              </a:spcBef>
            </a:pP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CloudTrail's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History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useful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quickly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reading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(management)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happened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last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90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days,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while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better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combining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analysing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from different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sources,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accessing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longer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90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days,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advaced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filtering.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460" y="3777234"/>
            <a:ext cx="6224905" cy="1147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13300"/>
              </a:lnSpc>
              <a:spcBef>
                <a:spcPts val="9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metric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specific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count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group.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setting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metric,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metric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represents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how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increment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or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'count'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passes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filters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case,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want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increment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metric value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1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whenever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accessed).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Default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we're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tracking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does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not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occur!</a:t>
            </a:r>
            <a:r>
              <a:rPr lang="en-IN"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5">
            <a:extLst>
              <a:ext uri="{FF2B5EF4-FFF2-40B4-BE49-F238E27FC236}">
                <a16:creationId xmlns:a16="http://schemas.microsoft.com/office/drawing/2014/main" id="{7EEBBBEA-B1E6-34AA-FE1D-6BFF47DB2DEA}"/>
              </a:ext>
            </a:extLst>
          </p:cNvPr>
          <p:cNvGrpSpPr/>
          <p:nvPr/>
        </p:nvGrpSpPr>
        <p:grpSpPr>
          <a:xfrm>
            <a:off x="457835" y="4898402"/>
            <a:ext cx="6588759" cy="3429635"/>
            <a:chOff x="523240" y="1254124"/>
            <a:chExt cx="6588759" cy="3429635"/>
          </a:xfrm>
        </p:grpSpPr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B22EFCA3-6981-679F-0CF6-3E7382D5ECD2}"/>
                </a:ext>
              </a:extLst>
            </p:cNvPr>
            <p:cNvSpPr/>
            <p:nvPr/>
          </p:nvSpPr>
          <p:spPr>
            <a:xfrm>
              <a:off x="523240" y="1254124"/>
              <a:ext cx="6588125" cy="9525"/>
            </a:xfrm>
            <a:custGeom>
              <a:avLst/>
              <a:gdLst/>
              <a:ahLst/>
              <a:cxnLst/>
              <a:rect l="l" t="t" r="r" b="b"/>
              <a:pathLst>
                <a:path w="6588125" h="9525">
                  <a:moveTo>
                    <a:pt x="6588125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6588125" y="9143"/>
                  </a:lnTo>
                  <a:lnTo>
                    <a:pt x="6588125" y="0"/>
                  </a:lnTo>
                  <a:close/>
                </a:path>
              </a:pathLst>
            </a:custGeom>
            <a:solidFill>
              <a:srgbClr val="DED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7">
              <a:extLst>
                <a:ext uri="{FF2B5EF4-FFF2-40B4-BE49-F238E27FC236}">
                  <a16:creationId xmlns:a16="http://schemas.microsoft.com/office/drawing/2014/main" id="{56C1C2DC-4B89-23F5-3329-EEDD99FA1D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655" y="1262379"/>
              <a:ext cx="6189345" cy="3421379"/>
            </a:xfrm>
            <a:prstGeom prst="rect">
              <a:avLst/>
            </a:prstGeom>
          </p:spPr>
        </p:pic>
        <p:pic>
          <p:nvPicPr>
            <p:cNvPr id="17" name="object 8">
              <a:extLst>
                <a:ext uri="{FF2B5EF4-FFF2-40B4-BE49-F238E27FC236}">
                  <a16:creationId xmlns:a16="http://schemas.microsoft.com/office/drawing/2014/main" id="{22B6862E-7F24-0302-07B2-954F5E271A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8237" y="1727326"/>
              <a:ext cx="2715514" cy="24913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CloudWatch</a:t>
            </a:r>
            <a:r>
              <a:rPr spc="-140" dirty="0"/>
              <a:t> </a:t>
            </a:r>
            <a:r>
              <a:rPr spc="-20" dirty="0"/>
              <a:t>Alarm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480" y="1981859"/>
            <a:ext cx="6219190" cy="11518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feature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alert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that's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designed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"go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off"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ct val="113100"/>
              </a:lnSpc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i.e.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indicate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certain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conditions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have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group.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threshold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about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how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times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endParaRPr sz="1300" dirty="0">
              <a:latin typeface="Calibri"/>
              <a:cs typeface="Calibri"/>
            </a:endParaRPr>
          </a:p>
          <a:p>
            <a:pPr marL="18415" marR="459105" indent="-6350">
              <a:lnSpc>
                <a:spcPct val="113100"/>
              </a:lnSpc>
              <a:spcBef>
                <a:spcPts val="45"/>
              </a:spcBef>
            </a:pP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GetSecretValue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event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happens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5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minute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period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will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trigger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the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average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number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times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above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1.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7465" y="3075940"/>
            <a:ext cx="6205220" cy="9372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65"/>
              </a:spcBef>
            </a:pP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created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topic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along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way.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topic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like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endParaRPr sz="1300" dirty="0">
              <a:latin typeface="Calibri"/>
              <a:cs typeface="Calibri"/>
            </a:endParaRPr>
          </a:p>
          <a:p>
            <a:pPr marL="18415" marR="5080" indent="-6350" algn="just">
              <a:lnSpc>
                <a:spcPct val="113100"/>
              </a:lnSpc>
              <a:spcBef>
                <a:spcPts val="6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newsletter/broadcast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channel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phone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numbers,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functions,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apps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can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subscribe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to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(so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they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new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update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share)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topic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send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us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accessed.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465" y="4013200"/>
            <a:ext cx="6170295" cy="6978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AWS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requires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confirmation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would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not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automatically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start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emailing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ts val="1770"/>
              </a:lnSpc>
              <a:spcBef>
                <a:spcPts val="85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addresses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subscribe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topic.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helps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prevent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unwanted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subscriptions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recipicients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(i.e.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people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receiving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those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emails).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49420BA0-8846-6688-6B61-E790943F49E5}"/>
              </a:ext>
            </a:extLst>
          </p:cNvPr>
          <p:cNvGrpSpPr/>
          <p:nvPr/>
        </p:nvGrpSpPr>
        <p:grpSpPr>
          <a:xfrm>
            <a:off x="504241" y="4813300"/>
            <a:ext cx="6588759" cy="3429635"/>
            <a:chOff x="523240" y="1254124"/>
            <a:chExt cx="6588759" cy="3429635"/>
          </a:xfrm>
        </p:grpSpPr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243A97E5-77B6-97CE-38CB-33D8CA1C8726}"/>
                </a:ext>
              </a:extLst>
            </p:cNvPr>
            <p:cNvSpPr/>
            <p:nvPr/>
          </p:nvSpPr>
          <p:spPr>
            <a:xfrm>
              <a:off x="523240" y="1254124"/>
              <a:ext cx="6588125" cy="9525"/>
            </a:xfrm>
            <a:custGeom>
              <a:avLst/>
              <a:gdLst/>
              <a:ahLst/>
              <a:cxnLst/>
              <a:rect l="l" t="t" r="r" b="b"/>
              <a:pathLst>
                <a:path w="6588125" h="9525">
                  <a:moveTo>
                    <a:pt x="6588125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6588125" y="9143"/>
                  </a:lnTo>
                  <a:lnTo>
                    <a:pt x="6588125" y="0"/>
                  </a:lnTo>
                  <a:close/>
                </a:path>
              </a:pathLst>
            </a:custGeom>
            <a:solidFill>
              <a:srgbClr val="DED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7">
              <a:extLst>
                <a:ext uri="{FF2B5EF4-FFF2-40B4-BE49-F238E27FC236}">
                  <a16:creationId xmlns:a16="http://schemas.microsoft.com/office/drawing/2014/main" id="{8839998B-B264-C869-E08B-0B54302C63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655" y="1262379"/>
              <a:ext cx="6189345" cy="3421379"/>
            </a:xfrm>
            <a:prstGeom prst="rect">
              <a:avLst/>
            </a:prstGeom>
          </p:spPr>
        </p:pic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id="{823A85BF-C692-08B3-C971-E4E71D40D0C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3934" y="1727453"/>
              <a:ext cx="5024246" cy="24912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Troubleshooting</a:t>
            </a:r>
            <a:r>
              <a:rPr spc="-165" dirty="0"/>
              <a:t> </a:t>
            </a:r>
            <a:r>
              <a:rPr dirty="0"/>
              <a:t>Notification</a:t>
            </a:r>
            <a:r>
              <a:rPr spc="-175" dirty="0"/>
              <a:t> </a:t>
            </a:r>
            <a:r>
              <a:rPr spc="-10" dirty="0"/>
              <a:t>Errors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480" y="1981859"/>
            <a:ext cx="5706110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13100"/>
              </a:lnSpc>
              <a:spcBef>
                <a:spcPts val="100"/>
              </a:spcBef>
            </a:pPr>
            <a:r>
              <a:rPr sz="1300" spc="-75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test</a:t>
            </a:r>
            <a:r>
              <a:rPr sz="1300" spc="-6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6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opened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3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again!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results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weren't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successful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didn't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emails/notifications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about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getting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accessed!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480" y="3187724"/>
            <a:ext cx="6184265" cy="11487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troubleshooting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notification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issues,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investigated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every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single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part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endParaRPr sz="1300" dirty="0">
              <a:latin typeface="Calibri"/>
              <a:cs typeface="Calibri"/>
            </a:endParaRPr>
          </a:p>
          <a:p>
            <a:pPr marL="18415" marR="5080">
              <a:lnSpc>
                <a:spcPct val="113100"/>
              </a:lnSpc>
              <a:spcBef>
                <a:spcPts val="1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picking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up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happening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access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sending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filter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endParaRPr sz="1300" dirty="0">
              <a:latin typeface="Calibri"/>
              <a:cs typeface="Calibri"/>
            </a:endParaRPr>
          </a:p>
          <a:p>
            <a:pPr marL="18415" marR="288290">
              <a:lnSpc>
                <a:spcPct val="113100"/>
              </a:lnSpc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accidentally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rejecting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correct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events,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gets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triggered,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whether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triggering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sends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480" y="4845837"/>
            <a:ext cx="6066790" cy="69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13500"/>
              </a:lnSpc>
              <a:spcBef>
                <a:spcPts val="95"/>
              </a:spcBef>
            </a:pP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initially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didn't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receive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configured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wrong threshold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-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instead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calculating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AVERAGE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number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times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accessed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time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period,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should've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been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SUM!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480" y="6068948"/>
            <a:ext cx="6042025" cy="145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Success!</a:t>
            </a:r>
            <a:endParaRPr sz="3150" dirty="0">
              <a:latin typeface="Calibri"/>
              <a:cs typeface="Calibri"/>
            </a:endParaRPr>
          </a:p>
          <a:p>
            <a:pPr marL="18415" marR="5080" indent="-6350">
              <a:lnSpc>
                <a:spcPct val="113799"/>
              </a:lnSpc>
              <a:spcBef>
                <a:spcPts val="2115"/>
              </a:spcBef>
            </a:pPr>
            <a:r>
              <a:rPr sz="1300" spc="-75" dirty="0">
                <a:solidFill>
                  <a:srgbClr val="0F1728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validate</a:t>
            </a:r>
            <a:r>
              <a:rPr sz="1300" spc="-5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monitoring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system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can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successfully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detect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alert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when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is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accessed,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checked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secret's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value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more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time.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received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within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1-</a:t>
            </a:r>
            <a:r>
              <a:rPr sz="1300" spc="-50" dirty="0">
                <a:solidFill>
                  <a:srgbClr val="0F1728"/>
                </a:solidFill>
                <a:latin typeface="Calibri"/>
                <a:cs typeface="Calibri"/>
              </a:rPr>
              <a:t>2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minutes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event!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1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also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"In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alarm"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state.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3240" y="457199"/>
            <a:ext cx="9525" cy="9226550"/>
          </a:xfrm>
          <a:custGeom>
            <a:avLst/>
            <a:gdLst/>
            <a:ahLst/>
            <a:cxnLst/>
            <a:rect l="l" t="t" r="r" b="b"/>
            <a:pathLst>
              <a:path w="9525" h="9226550">
                <a:moveTo>
                  <a:pt x="9093" y="0"/>
                </a:moveTo>
                <a:lnTo>
                  <a:pt x="0" y="0"/>
                </a:lnTo>
                <a:lnTo>
                  <a:pt x="0" y="9226550"/>
                </a:lnTo>
                <a:lnTo>
                  <a:pt x="9093" y="9226550"/>
                </a:lnTo>
                <a:lnTo>
                  <a:pt x="9093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23240" y="1254124"/>
            <a:ext cx="6588125" cy="9525"/>
          </a:xfrm>
          <a:custGeom>
            <a:avLst/>
            <a:gdLst/>
            <a:ahLst/>
            <a:cxnLst/>
            <a:rect l="l" t="t" r="r" b="b"/>
            <a:pathLst>
              <a:path w="6588125" h="9525">
                <a:moveTo>
                  <a:pt x="6588125" y="0"/>
                </a:moveTo>
                <a:lnTo>
                  <a:pt x="0" y="0"/>
                </a:lnTo>
                <a:lnTo>
                  <a:pt x="0" y="9143"/>
                </a:lnTo>
                <a:lnTo>
                  <a:pt x="6588125" y="9143"/>
                </a:lnTo>
                <a:lnTo>
                  <a:pt x="6588125" y="0"/>
                </a:lnTo>
                <a:close/>
              </a:path>
            </a:pathLst>
          </a:custGeom>
          <a:solidFill>
            <a:srgbClr val="DED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0480" y="4877064"/>
            <a:ext cx="6190615" cy="202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1417955" indent="-6350">
              <a:lnSpc>
                <a:spcPct val="109600"/>
              </a:lnSpc>
              <a:spcBef>
                <a:spcPts val="95"/>
              </a:spcBef>
            </a:pPr>
            <a:r>
              <a:rPr sz="3150" b="1" dirty="0">
                <a:solidFill>
                  <a:srgbClr val="0F1728"/>
                </a:solidFill>
                <a:latin typeface="Calibri"/>
                <a:cs typeface="Calibri"/>
              </a:rPr>
              <a:t>Comparing</a:t>
            </a:r>
            <a:r>
              <a:rPr sz="3150" b="1" spc="-8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3150" b="1" spc="-8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20" dirty="0">
                <a:solidFill>
                  <a:srgbClr val="0F1728"/>
                </a:solidFill>
                <a:latin typeface="Calibri"/>
                <a:cs typeface="Calibri"/>
              </a:rPr>
              <a:t>with CloudTrail</a:t>
            </a:r>
            <a:r>
              <a:rPr sz="3150" b="1" spc="-10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0F1728"/>
                </a:solidFill>
                <a:latin typeface="Calibri"/>
                <a:cs typeface="Calibri"/>
              </a:rPr>
              <a:t>Notifications</a:t>
            </a:r>
            <a:endParaRPr sz="3150" dirty="0">
              <a:latin typeface="Calibri"/>
              <a:cs typeface="Calibri"/>
            </a:endParaRPr>
          </a:p>
          <a:p>
            <a:pPr marL="18415" marR="5080" indent="-6350">
              <a:lnSpc>
                <a:spcPct val="113799"/>
              </a:lnSpc>
              <a:spcBef>
                <a:spcPts val="211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project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extension,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enabled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notification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delivery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because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lets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evaluate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CloudWatch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notifying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us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about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like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secert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getting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04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access.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480" y="7151902"/>
            <a:ext cx="617537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13100"/>
              </a:lnSpc>
              <a:spcBef>
                <a:spcPts val="100"/>
              </a:spcBef>
            </a:pP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After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enabling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notifications,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my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inbox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very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quickly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filled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new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emails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SNS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(as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was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notified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by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CloudTrail).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terms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 usefulness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these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emails,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spc="-25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thought</a:t>
            </a:r>
            <a:r>
              <a:rPr sz="1300" spc="-4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we're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receiving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LOTS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(it's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</a:t>
            </a:r>
            <a:r>
              <a:rPr sz="1300" spc="-1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little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overwhelming)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themselves</a:t>
            </a:r>
            <a:r>
              <a:rPr sz="1300" spc="-2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don't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show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what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happened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terms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management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events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ocurred.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lang="en-IN" sz="1300" dirty="0">
                <a:solidFill>
                  <a:srgbClr val="0F1728"/>
                </a:solidFill>
                <a:latin typeface="Calibri"/>
                <a:cs typeface="Calibri"/>
              </a:rPr>
              <a:t>I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only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see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F1728"/>
                </a:solidFill>
                <a:latin typeface="Calibri"/>
                <a:cs typeface="Calibri"/>
              </a:rPr>
              <a:t>new</a:t>
            </a:r>
            <a:endParaRPr sz="13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25"/>
              </a:spcBef>
            </a:pP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logs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have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been</a:t>
            </a:r>
            <a:r>
              <a:rPr sz="1300" spc="-35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stored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F1728"/>
                </a:solidFill>
                <a:latin typeface="Calibri"/>
                <a:cs typeface="Calibri"/>
              </a:rPr>
              <a:t>our</a:t>
            </a:r>
            <a:r>
              <a:rPr sz="1300" spc="-30" dirty="0">
                <a:solidFill>
                  <a:srgbClr val="0F17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F1728"/>
                </a:solidFill>
                <a:latin typeface="Calibri"/>
                <a:cs typeface="Calibri"/>
              </a:rPr>
              <a:t>bucket.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3240" y="457199"/>
            <a:ext cx="6588759" cy="9226550"/>
            <a:chOff x="523240" y="457199"/>
            <a:chExt cx="6588759" cy="92265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655" y="1262379"/>
              <a:ext cx="6189345" cy="34213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8000" y="1727453"/>
              <a:ext cx="4476115" cy="24912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3240" y="457199"/>
              <a:ext cx="9525" cy="9226550"/>
            </a:xfrm>
            <a:custGeom>
              <a:avLst/>
              <a:gdLst/>
              <a:ahLst/>
              <a:cxnLst/>
              <a:rect l="l" t="t" r="r" b="b"/>
              <a:pathLst>
                <a:path w="9525" h="9226550">
                  <a:moveTo>
                    <a:pt x="9093" y="0"/>
                  </a:moveTo>
                  <a:lnTo>
                    <a:pt x="0" y="0"/>
                  </a:lnTo>
                  <a:lnTo>
                    <a:pt x="0" y="9226550"/>
                  </a:lnTo>
                  <a:lnTo>
                    <a:pt x="9093" y="9226550"/>
                  </a:lnTo>
                  <a:lnTo>
                    <a:pt x="9093" y="0"/>
                  </a:lnTo>
                  <a:close/>
                </a:path>
              </a:pathLst>
            </a:custGeom>
            <a:solidFill>
              <a:srgbClr val="DED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77AFE-404B-7028-CEF3-6D93690D45FB}"/>
              </a:ext>
            </a:extLst>
          </p:cNvPr>
          <p:cNvSpPr txBox="1"/>
          <p:nvPr/>
        </p:nvSpPr>
        <p:spPr>
          <a:xfrm>
            <a:off x="698500" y="850900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spc="-10" dirty="0">
                <a:solidFill>
                  <a:srgbClr val="0F1728"/>
                </a:solidFill>
                <a:latin typeface="Calibri"/>
                <a:cs typeface="Calibri"/>
              </a:rPr>
              <a:t>Contact</a:t>
            </a:r>
            <a:r>
              <a:rPr lang="en-IN" dirty="0"/>
              <a:t>  </a:t>
            </a:r>
            <a:r>
              <a:rPr lang="en-IN" sz="5400" b="1" spc="-10" dirty="0">
                <a:solidFill>
                  <a:srgbClr val="0F1728"/>
                </a:solidFill>
                <a:latin typeface="Calibri"/>
                <a:cs typeface="Calibri"/>
              </a:rPr>
              <a:t>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CA91F-5C06-8630-18A1-73A94F8834B4}"/>
              </a:ext>
            </a:extLst>
          </p:cNvPr>
          <p:cNvSpPr txBox="1"/>
          <p:nvPr/>
        </p:nvSpPr>
        <p:spPr>
          <a:xfrm>
            <a:off x="663574" y="2451100"/>
            <a:ext cx="64738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Name: Rakesh J</a:t>
            </a:r>
          </a:p>
          <a:p>
            <a:endParaRPr lang="en-IN" dirty="0"/>
          </a:p>
          <a:p>
            <a:r>
              <a:rPr lang="en-IN" dirty="0">
                <a:hlinkClick r:id="rId2"/>
              </a:rPr>
              <a:t>Email: rakeshj.woks@gmail.com</a:t>
            </a:r>
            <a:endParaRPr lang="en-IN" dirty="0"/>
          </a:p>
          <a:p>
            <a:endParaRPr lang="en-IN" dirty="0"/>
          </a:p>
          <a:p>
            <a:r>
              <a:rPr lang="en-IN" dirty="0"/>
              <a:t>Phone: +91 7090466131</a:t>
            </a:r>
          </a:p>
          <a:p>
            <a:endParaRPr lang="en-IN" dirty="0"/>
          </a:p>
          <a:p>
            <a:r>
              <a:rPr lang="en-IN" dirty="0"/>
              <a:t>LinkedIn: </a:t>
            </a:r>
            <a:r>
              <a:rPr lang="en-IN" dirty="0">
                <a:hlinkClick r:id="rId3"/>
              </a:rPr>
              <a:t>https://www.linkedin.com/in/rakesh-jayanna-215a3728b/</a:t>
            </a:r>
            <a:endParaRPr lang="en-IN" dirty="0"/>
          </a:p>
          <a:p>
            <a:endParaRPr lang="en-IN" dirty="0"/>
          </a:p>
          <a:p>
            <a:r>
              <a:rPr lang="en-IN" dirty="0"/>
              <a:t>GitHub: </a:t>
            </a:r>
            <a:r>
              <a:rPr lang="en-IN" dirty="0">
                <a:hlinkClick r:id="rId4"/>
              </a:rPr>
              <a:t>https://github.com/rakeshjayanna/Security-Monitoring-System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172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1300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Office Theme</vt:lpstr>
      <vt:lpstr>Security Monitoring System with AWS</vt:lpstr>
      <vt:lpstr>Introducing the Project!</vt:lpstr>
      <vt:lpstr>PowerPoint Presentation</vt:lpstr>
      <vt:lpstr>PowerPoint Presentation</vt:lpstr>
      <vt:lpstr>CloudWatch Metrics</vt:lpstr>
      <vt:lpstr>CloudWatch Alarm</vt:lpstr>
      <vt:lpstr>Troubleshooting Notification Errors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NextWork - Build a Security Monitoring System document</dc:title>
  <dc:creator>RAKESH J</dc:creator>
  <cp:lastModifiedBy>RAKESH J</cp:lastModifiedBy>
  <cp:revision>2</cp:revision>
  <dcterms:created xsi:type="dcterms:W3CDTF">2025-11-15T08:39:30Z</dcterms:created>
  <dcterms:modified xsi:type="dcterms:W3CDTF">2025-11-15T14:17:17Z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2025-11-15T00:00:00Z</vt:filetime>
  </property>
  <property fmtid="{D5CDD505-2E9C-101B-9397-08002B2CF9AE}" pid="5" name="Producer">
    <vt:lpwstr>Microsoft® Word for Microsoft 365</vt:lpwstr>
  </property>
</Properties>
</file>